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Lst>
  <p:notesMasterIdLst>
    <p:notesMasterId r:id="rId1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notesMaster" Target="notesMasters/notesMaster1.xml"/><Relationship Id="rId143" Type="http://schemas.openxmlformats.org/officeDocument/2006/relationships/presProps" Target="presProps.xml"/><Relationship Id="rId144" Type="http://schemas.openxmlformats.org/officeDocument/2006/relationships/viewProps" Target="viewProps.xml"/><Relationship Id="rId145" Type="http://schemas.openxmlformats.org/officeDocument/2006/relationships/theme" Target="theme/theme1.xml"/><Relationship Id="rId1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AF2E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E5"/>
          </a:solidFill>
          <a:ln w="12700">
            <a:solidFill>
              <a:srgbClr val="EAF2E5">
                <a:alpha val="0"/>
              </a:srgbClr>
            </a:solidFill>
            <a:prstDash val="solid"/>
          </a:ln>
        </p:spPr>
      </p:sp>
      <p:sp>
        <p:nvSpPr>
          <p:cNvPr id="3" name="Shape 1"/>
          <p:cNvSpPr/>
          <p:nvPr/>
        </p:nvSpPr>
        <p:spPr>
          <a:xfrm>
            <a:off x="0" y="0"/>
            <a:ext cx="12191695" cy="457200"/>
          </a:xfrm>
          <a:prstGeom prst="rect">
            <a:avLst/>
          </a:prstGeom>
          <a:solidFill>
            <a:srgbClr val="235B2A"/>
          </a:solidFill>
          <a:ln w="12700">
            <a:solidFill>
              <a:srgbClr val="235B2A">
                <a:alpha val="0"/>
              </a:srgbClr>
            </a:solidFill>
            <a:prstDash val="solid"/>
          </a:ln>
        </p:spPr>
      </p:sp>
      <p:sp>
        <p:nvSpPr>
          <p:cNvPr id="4" name="Text 2"/>
          <p:cNvSpPr/>
          <p:nvPr/>
        </p:nvSpPr>
        <p:spPr>
          <a:xfrm>
            <a:off x="731520" y="804672"/>
            <a:ext cx="5120640" cy="292608"/>
          </a:xfrm>
          <a:prstGeom prst="rect">
            <a:avLst/>
          </a:prstGeom>
          <a:noFill/>
          <a:ln/>
        </p:spPr>
        <p:txBody>
          <a:bodyPr wrap="square" rtlCol="0" anchor="ctr"/>
          <a:lstStyle/>
          <a:p>
            <a:pPr indent="0" marL="0">
              <a:buNone/>
            </a:pPr>
            <a:r>
              <a:rPr lang="en-US" b="1" dirty="0">
                <a:solidFill>
                  <a:srgbClr val="235B2A"/>
                </a:solidFill>
                <a:latin typeface="Aptos" pitchFamily="34" charset="0"/>
                <a:ea typeface="Aptos" pitchFamily="34" charset="-122"/>
                <a:cs typeface="Aptos" pitchFamily="34" charset="-120"/>
              </a:rPr>
              <a:t>CSP 502 · Plant Improvement</a:t>
            </a:r>
            <a:endParaRPr lang="en-US" dirty="0"/>
          </a:p>
        </p:txBody>
      </p:sp>
      <p:sp>
        <p:nvSpPr>
          <p:cNvPr id="5" name="Text 3"/>
          <p:cNvSpPr/>
          <p:nvPr/>
        </p:nvSpPr>
        <p:spPr>
          <a:xfrm>
            <a:off x="713232" y="1298448"/>
            <a:ext cx="10607040" cy="1143000"/>
          </a:xfrm>
          <a:prstGeom prst="rect">
            <a:avLst/>
          </a:prstGeom>
          <a:noFill/>
          <a:ln/>
        </p:spPr>
        <p:txBody>
          <a:bodyPr wrap="square" lIns="0" tIns="0" rIns="0" bIns="0" rtlCol="0" anchor="ctr"/>
          <a:lstStyle/>
          <a:p>
            <a:pPr indent="0" marL="0">
              <a:buNone/>
            </a:pPr>
            <a:r>
              <a:rPr lang="en-US" b="1" dirty="0">
                <a:solidFill>
                  <a:srgbClr val="1C4D24"/>
                </a:solidFill>
                <a:latin typeface="Aptos Display" pitchFamily="34" charset="0"/>
                <a:ea typeface="Aptos Display" pitchFamily="34" charset="-122"/>
                <a:cs typeface="Aptos Display" pitchFamily="34" charset="-120"/>
              </a:rPr>
              <a:t>&lt;w:bottom w:val="thick" w:color="2D6B31" w:sz="8"/&gt;&lt;/w:pBdr&gt;&lt;w:spacing w:after="120" w:before="120"/&gt;&lt;w:jc w:val="center"/&gt;&lt;/w:pPr&gt;&lt;w:r&gt;&lt;w:rPr&gt;&lt;w:rFonts w:ascii="Calibri" w:cs="Calibri" w:eastAsia="Calibri" w:hAnsi="Calibri"/&gt;&lt;w:b/&gt;&lt;w:bCs/&gt;&lt;w:caps/&gt;&lt;w:color w:val="1E5E22"/&gt;&lt;w:sz w:val="48"/&gt;&lt;w:szCs w:val="48"/&gt;&lt;/w:rPr&gt;&lt;w:t xml:space="preserve"&gt;LECTURE NOTES</a:t>
            </a:r>
            <a:endParaRPr lang="en-US" dirty="0"/>
          </a:p>
        </p:txBody>
      </p:sp>
      <p:sp>
        <p:nvSpPr>
          <p:cNvPr id="6" name="Text 4"/>
          <p:cNvSpPr/>
          <p:nvPr/>
        </p:nvSpPr>
        <p:spPr>
          <a:xfrm>
            <a:off x="749808" y="2560320"/>
            <a:ext cx="10241280" cy="411480"/>
          </a:xfrm>
          <a:prstGeom prst="rect">
            <a:avLst/>
          </a:prstGeom>
          <a:noFill/>
          <a:ln/>
        </p:spPr>
        <p:txBody>
          <a:bodyPr wrap="square" rtlCol="0" anchor="ctr"/>
          <a:lstStyle/>
          <a:p>
            <a:pPr indent="0" marL="0">
              <a:buNone/>
            </a:pPr>
            <a:r>
              <a:rPr lang="en-US" i="1" dirty="0">
                <a:solidFill>
                  <a:srgbClr val="35583C"/>
                </a:solidFill>
                <a:latin typeface="Aptos" pitchFamily="34" charset="0"/>
                <a:ea typeface="Aptos" pitchFamily="34" charset="-122"/>
                <a:cs typeface="Aptos" pitchFamily="34" charset="-120"/>
              </a:rPr>
              <a:t>Centre of Origin of Crops, Domestication &amp; Plant Introduction</a:t>
            </a:r>
            <a:endParaRPr lang="en-US" dirty="0"/>
          </a:p>
        </p:txBody>
      </p:sp>
      <p:sp>
        <p:nvSpPr>
          <p:cNvPr id="7" name="Text 5"/>
          <p:cNvSpPr/>
          <p:nvPr/>
        </p:nvSpPr>
        <p:spPr>
          <a:xfrm>
            <a:off x="768096" y="3154680"/>
            <a:ext cx="5669280" cy="914400"/>
          </a:xfrm>
          <a:prstGeom prst="rect">
            <a:avLst/>
          </a:prstGeom>
          <a:noFill/>
          <a:ln/>
        </p:spPr>
        <p:txBody>
          <a:bodyPr wrap="square" rtlCol="0" anchor="ctr"/>
          <a:lstStyle/>
          <a:p>
            <a:pPr indent="0" marL="0">
              <a:buNone/>
            </a:pPr>
            <a:r>
              <a:rPr lang="en-US" dirty="0">
                <a:solidFill>
                  <a:srgbClr val="415A46"/>
                </a:solidFill>
                <a:latin typeface="Aptos" pitchFamily="34" charset="0"/>
                <a:ea typeface="Aptos" pitchFamily="34" charset="-122"/>
                <a:cs typeface="Aptos" pitchFamily="34" charset="-120"/>
              </a:rPr>
              <a:t>Prepared by: </a:t>
            </a:r>
            <a:pPr indent="0" marL="0">
              <a:buNone/>
            </a:pPr>
            <a:r>
              <a:rPr lang="en-US" dirty="0">
                <a:solidFill>
                  <a:srgbClr val="415A46"/>
                </a:solidFill>
                <a:latin typeface="Aptos" pitchFamily="34" charset="0"/>
                <a:ea typeface="Aptos" pitchFamily="34" charset="-122"/>
                <a:cs typeface="Aptos" pitchFamily="34" charset="-120"/>
              </a:rPr>
              <a:t>Academic session: Academic Session 2024/2025</a:t>
            </a:r>
            <a:endParaRPr lang="en-US" dirty="0"/>
          </a:p>
          <a:p>
            <a:pPr indent="0" marL="0">
              <a:buNone/>
            </a:pPr>
            <a:r>
              <a:rPr lang="en-US" dirty="0">
                <a:solidFill>
                  <a:srgbClr val="415A46"/>
                </a:solidFill>
                <a:latin typeface="Aptos" pitchFamily="34" charset="0"/>
                <a:ea typeface="Aptos" pitchFamily="34" charset="-122"/>
                <a:cs typeface="Aptos" pitchFamily="34" charset="-120"/>
              </a:rPr>
              <a:t>Source file: CSP502_Lecture_Notes_Centre_of_Origin_Domestication_PlantIntroduction.docx</a:t>
            </a:r>
            <a:endParaRPr lang="en-US" dirty="0"/>
          </a:p>
        </p:txBody>
      </p:sp>
      <p:sp>
        <p:nvSpPr>
          <p:cNvPr id="8" name="Shape 6"/>
          <p:cNvSpPr/>
          <p:nvPr/>
        </p:nvSpPr>
        <p:spPr>
          <a:xfrm>
            <a:off x="7772400" y="1097280"/>
            <a:ext cx="3474720" cy="3566160"/>
          </a:xfrm>
          <a:prstGeom prst="roundRect">
            <a:avLst>
              <a:gd name="adj" fmla="val 3158"/>
            </a:avLst>
          </a:prstGeom>
          <a:solidFill>
            <a:srgbClr val="FFFFFF">
              <a:alpha val="97000"/>
            </a:srgbClr>
          </a:solidFill>
          <a:ln w="12700">
            <a:solidFill>
              <a:srgbClr val="C9D8C4"/>
            </a:solidFill>
            <a:prstDash val="solid"/>
          </a:ln>
        </p:spPr>
      </p:sp>
      <p:sp>
        <p:nvSpPr>
          <p:cNvPr id="9" name="Text 7"/>
          <p:cNvSpPr/>
          <p:nvPr/>
        </p:nvSpPr>
        <p:spPr>
          <a:xfrm>
            <a:off x="8065008" y="1444752"/>
            <a:ext cx="2926080" cy="2468880"/>
          </a:xfrm>
          <a:prstGeom prst="rect">
            <a:avLst/>
          </a:prstGeom>
          <a:noFill/>
          <a:ln/>
        </p:spPr>
        <p:txBody>
          <a:bodyPr wrap="square" rtlCol="0" anchor="ctr">
            <a:normAutofit/>
          </a:bodyPr>
          <a:lstStyle/>
          <a:p>
            <a:pPr indent="0" marL="0">
              <a:buNone/>
            </a:pPr>
            <a:r>
              <a:rPr lang="en-US" b="1" dirty="0">
                <a:solidFill>
                  <a:srgbClr val="1C4D24"/>
                </a:solidFill>
                <a:latin typeface="Aptos Display" pitchFamily="34" charset="0"/>
                <a:ea typeface="Aptos Display" pitchFamily="34" charset="-122"/>
                <a:cs typeface="Aptos Display" pitchFamily="34" charset="-120"/>
              </a:rPr>
              <a:t>Lecture Focus</a:t>
            </a:r>
            <a:pPr indent="0" marL="0">
              <a:buNone/>
            </a:pPr>
            <a:r>
              <a:rPr lang="en-US" dirty="0">
                <a:solidFill>
                  <a:srgbClr val="24402B"/>
                </a:solidFill>
                <a:latin typeface="Aptos" pitchFamily="34" charset="0"/>
                <a:ea typeface="Aptos" pitchFamily="34" charset="-122"/>
                <a:cs typeface="Aptos" pitchFamily="34" charset="-120"/>
              </a:rPr>
              <a:t>Centres of origin, Vavilov's theory, crop domestication, domestication syndrome, and plant introduction.</a:t>
            </a:r>
            <a:endParaRPr lang="en-US" dirty="0"/>
          </a:p>
        </p:txBody>
      </p:sp>
      <p:sp>
        <p:nvSpPr>
          <p:cNvPr id="10" name="Text 8"/>
          <p:cNvSpPr/>
          <p:nvPr/>
        </p:nvSpPr>
        <p:spPr>
          <a:xfrm>
            <a:off x="777240" y="6053328"/>
            <a:ext cx="5303520" cy="219456"/>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Derived from the lecture notes in your Downloads folder.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Learning Objectives</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The document's stated learning outcomes.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At the end of this lecture, students should be able to:</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centre of origin and explain its significance for plant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Explain Vavilov's contribution and identify his primary centres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Differentiate between primary, secondary, and micro centres of diversity.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crop domestication and describe the domestication syndrome.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Compare wild and domesticated plant traits with relevant crop examples.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plant introduction and differentiate primary from secondary introduction.</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Learning Objectives</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At the end of this lecture, students should be able to:</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centre of origin and explain its significance for plant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Explain Vavilov's contribution and identify his primary centres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Differentiate between primary, secondary, and micro centres of diversity.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crop domestication and describe the domestication syndrome.</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Learning Objectives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Compare wild and domesticated plant traits with relevant crop examples.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plant introduction and differentiate primary from secondary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Describe the procedures, objectives, and quarantine requirements for plant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 EXAM TIP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All seven objectives are examinable. Objective 3 (primary/secondary/micro centres) and Objective 7 (quarantine) have appeared frequently in past examinations.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Section A: INTRODUCTION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Crop Improvement &amp; the Role of Crop Evolution �?" 10 Minutes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1.1 Crop Improvement �?" Definition and Scope</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Crop improvement is the application of genetic principles and scientific methods to modify crop plants so as to increase their productivity, quality, adaptation, and resistance to biotic and abiotic stresses.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It is a deliberate, science-driven enterprise that builds on millions of years of natural evolution and thousands of years of human-directed selection.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Four core disciplines underpin crop improvement: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Genetics �?" the science of heredity, providing the rules governing trait inheritance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Evolution �?" the processes that create and maintain biological diversity</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1.1 Crop Improvement �?" Definition and Scope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Plant Breeding �?" the application of genetics and selection to improve crop populations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Biotechnology �?" modern molecular tools that accelerate and refine the breeding process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Why Crop History Matters to a Plant Breeder</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 plant breeder does not begin from nothing.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Every breeding programme starts with existing genetic diversity�?"accumulated over millennia through natural selection and human cultivation.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To exploit this diversity intelligently, the breeder must understand: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WHERE the crop came from (centres of origin �?" the subject of Section B)</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HOW wild plants were transformed into crop plants (domestication �?" Section C)</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Why Crop History Matters to a Plant Breeder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HOW genetic material moves between regions (plant introduction �?" Section 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Nigeria's nationally important crops �?" cassava, maize, cocoa, groundnut, rubber, rice �?" were ALL introduced from outside the country.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Understanding their origins is, therefore, not merely academic; it shapes every aspect of Nigeria's breeding strategy and food security planning.</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Section B: CENTRE OF ORIGIN OF CROPS</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Vavilov's Theory, the Eight Centres, Types of Centres, and Importance in Breeding �?" 40 Minutes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2.1 Definition of Centre of Origin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Centre of Origin (also called Centre of Diversity):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 geographical region where a particular crop species was first domesticated and where the maximum genetic diversity of that crop is found, including wild relatives and primitive cultivated forms.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Three features characterise a genuine centre of origin: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Maximum variability �?" the widest range of genetic forms (wild, primitive, and modern cultivars) coexist in the region.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relatives present �?" ancestor species or closely related wild taxa are still found growing naturally nearby.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Source of rare alleles �?" valuable breeding traits (disease resistance, stress tolerance, unique nutritional quality) are concentrated here and are often absent from material that has dispersed to other regions.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 EXAM TIP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"Centre of origin" and "centre of diversity" are often used interchangeably at undergraduate level.</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Three features characterise a genuine centre of origin: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Technically, the origin is the domestication site; diversity may spread slightly beyond it.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For examinations, treat them as equivalent unless the question specifically distinguishes them.</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2.2 Nikolai Vavilov �?" Pioneer of Crop Origins</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Nikolai Ivanovich Vavilov (1887�?"1943) was a Russian botanist, geneticist, and plant geographer whose systematic global expeditions established the scientific foundation for understanding where cultivated plants originated.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Major Contributions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Led 115 collecting expeditions worldwide between 1916 and 1940, spanning Ethiopia, Central Asia, Latin America, India, and beyond.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Collected over 250,000 seed accessions �?" the largest collection assembled by one scientist up to that time.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Identified 8 primary centres of crop origin (1926), later revised to 11 (1935).</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2.2 Nikolai Vavilov �?" Pioneer of Crop Origins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Founded the world's first major seed bank �?" the Vavilov Institute (VIR) in St. Petersburg, Russia, which still operates today.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Proposed the Law of Homologous Series in Variation �?" that related species tend to produce parallel ranges of heritable variation, allowing breeders to predict what traits might be found in related taxa.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Vavilov's Core Principle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region with the greatest diversity of forms is the centre of origin of that crop."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deceptively simple statement is the empirical basis of all germplasm conservation.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2.2 Nikolai Vavilov �?" Pioneer of Crop Origins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If a crop has been in a location for thousands of years, natural selection has had more time to generate diversity there.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Dominant alleles concentrate in centres of origin; recessive alleles (including many valuable resistance genes) radiate outward as the crop spreads.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HISTORY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Vavilov died in a Soviet prison in 1943, a victim of Lysenko's pseudoscientific rejection of genetics.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During the 900-day Siege of Leningrad (WWII), his colleagues chose to starve rather than eat the seed collections they were guarding �?" a testament to the perceived value of genetic resources.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2.2 Nikolai Vavilov �?" Pioneer of Crop Origins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Vavilov's Methodology �?" How He Identified Centres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Vavilov applied five systematic criteria: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Map maximum diversity �?" the region showing the widest range of morphological forms is the likely centre.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Locate wild relatives �?" presence of wild ancestor species growing nearby confirms the origin; transitional (weedy) forms between wild and cultivated plants are diagnostic.</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Analyse gene frequency �?" dominant alleles accumulate in centres of origin because they evolved there first.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2.2 Nikolai Vavilov �?" Pioneer of Crop Origins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Link to ancient agriculture �?" archaeological evidence of early farming (10,000+ years BP) in the region strengthens confirmation.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Observe geographic patterns �?" mountainous terrain with multiple microclimates drives rapid genetic diversification.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All major centres fall within 20�?"45A� latitude bands with distinct mountain systems.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2.3 Vavilov's Eight Primary Centres of Origin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All eight centres fall between 20A� and 45A� N/S latitude.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They coincide with ancient civilisations and are characterised by complex mountain terrain that created micro-environments driving genetic diversification.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Key Crops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Chinese Centre</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2.3 Vavilov's Eight Primary Centres of Origin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Soybean, Foxtail millet, Tea, Cabbage, Onion, Buckwheat (136 endemic spp.)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Indian + Indo-Malayan Centre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Rice (Oryza sativa), Sugarcane, Mango, Citrus, Banana, Eggplant, Sesame (117 + 55 spp.)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Central Asian Centre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Common wheat (Triticum aestivum), Pea, Cotton spp., Hemp, Apple, Apricot (43 spp.)</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2.3 Vavilov's Eight Primary Centres of Origin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Near East �?" Fertile Crescent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Wheat (9 species), Barley, Rye, Lentil, Chickpea, Fig, Grape, Date (83 spp.) �?" 'Cradle of Agriculture'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Mediterranean Centre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Durum wheat, Olive, Grape, Asparagus, Celery, Mustard, Clover, Rapeseed (84 spp.)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Ethiopian (Abyssinian) Centre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2.3 Vavilov's Eight Primary Centres of Origin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Coffee (Coffea arabica), Teff, Ethiopian wheat/barley varieties, Sesame, Castor bean (38 spp.) �?" ONLY African centre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Mesoamerican Centre (Mexico)</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Maize (Zea mays), Common bean, Tomato, Avocado, Cocoa, Pepper, Squash, Papaya, Tobacco</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South American Centre (3 sub-centres)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Cassava (sub-centre 8c: Brazil-Paraguay), Potato (8a: Chile; 8b: Peru-Bolivia), Groundnut, Pineapple, Rubber, Cacao</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2.3 Vavilov's Eight Primary Centres of Origin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Centres 7 (Mesoamerica) and 8 (South America) are MOST RELEVANT to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Maize �?" Nigeria's principal cereal crop �?" originates from Centre 7.</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Cassava �?" Nigeria's most important staple, for which Nigeria is the world's largest producer �?" originates from Centre 8 (sub-centre 8c, Brazil-Paraguay).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Cocoa, groundnut, and rubber also trace to these two centres.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2.3 Vavilov's Eight Primary Centres of Origin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Centre 6 (Ethiopia) is Africa's only primary centre and the origin of coffee, which Nigeria cultivates in some highland areas.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2.4 Types of Centres of Diversity</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Primary Centre (Centre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geographical region where a crop species was first domesticated. It contains the maximum diversity including wild ancestors, primitive landraces, and advanced cultivars.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Examples: Mexico (Maize), Brazil-Paraguay (Cassava), China (Soybean), Near East (Wheat and Barley).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Secondary Centre (Centre of Diversification)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 region where an introduced crop underwent further diversification after introduction.</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2.4 Types of Centres of Diversity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 new centre of diversity develops even though the crop did not originate there.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Genetic variation accumulates through natural selection, farmer selection, and spontaneous hybridisation with related local species.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Examples: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West Africa has become a secondary centre for Asian rice (Oryza sativa), introduced centuries ago.</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Continued selection across diverse West African environments has generated significant diversity.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2.4 Types of Centres of Diversity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Europe became a secondary centre for the potato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Andes, South America).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Micro Centre (Local Diversity Hotspot)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Small, highly localised areas within a broader centre where exceptional genetic diversity has accumulated, often associated with ancient farming communities, geographic isolation, or cultural practices that preserve diversity.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Examples: Specific highland valleys in Ethiopia; isolated island communities; traditional farming villages with centuries of selection history.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2.4 Types of Centres of Diversity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dY"? EXAM TIP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 common examination error: students confuse primary and secondary centres.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Use this memory aid �?" Primary = birthplace;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Secondary = adopted home where the immigrant also grew and diversified.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distinction is about ORIGIN, not about which region has more diversity today.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2.5 Importance of Centres of Origin in Plant Breeding</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Germplasm Conservation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Centres of origin are the priority locations for germplasm collection and in situ conservation.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Gene banks such as NACGRAB (National Centre for Genetic Resources and Biotechnology, Nigeria), the CGIAR centres (IITA, CIMMYT, IRRI), and the Svalbard Global Seed Vault prioritise material from centres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Conservation in and around these centres preserves the evolutionary raw material on which all future breeding depends.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Source of Resistance and Adaptive Genes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2.5 Importance of Centres of Origin in Plant Breeding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Wild relatives growing in centres of origin contain genes evolved over millions of years against local pests, pathogens, droughts, and soils.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These genes are the primary source of disease resistance, pest tolerance, and climate adaptation for modern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When cassava mosaic virus threatened cassava production across Africa, scientists returned to wild Manihot species in South America to find resistance genes.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When maize streak virus devastated maize in Nigeria, resistance breeding drew on diverse genetic material held in CIMMYT's collections.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Understanding Crop Adaptation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2.5 Importance of Centres of Origin in Plant Breeding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 crop performs best in environments resembling its centre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principle guides target environment selection in breeding programmes.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Rice varieties from the Indian subcontinent are pre-adapted to humid tropical conditions �?" consistent with Nigerian lowland ecologies.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Drought-tolerant sorghum from the Ethiopian-Sudanese region is pre-adapted to the moisture stress typical of Nigeria's Sahelian north.</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Broadening the Genetic Base for Crossing</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2.5 Importance of Centres of Origin in Plant Breeding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 narrow genetic base in elite breeding populations is a major vulnerability.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Centres of origin provide the diversity needed to widen the crossing base and recover transgressive segregants �?" offspring that exceed both parents in desirable traits.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IITA's breeding programmes routinely incorporate germplasm from CIMMYT, IRRI, and other international centres, which ultimately trace their diversity to the crops' centres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Legal and Policy Framework</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Nagoya Protocol on Access and Benefit-Sharing (2010) and the International Treaty on Plant Genetic Resources for Food and Agriculture (ITPGRFA) give countries of origin legal rights over their genetic resources.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2.5 Importance of Centres of Origin in Plant Breeding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Understanding centres of origin is essential for compliance, for preventing biopiracy, and for ensuring that Nigeria benefits from the international use of its indigenous genetic resources (such as African rice and West African yam diversity).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Food Security and Climate Adaptation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As climate change intensifies and new pathogen biotypes emerge, the genetic diversity conserved in centres of origin represents humanity's agricultural insurance policy.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Breeding for new climate conditions requires access to the full range of adaptive variation that only centres of origin hold.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must maintain strong collaborative relationships with institutions in South America and Mexico to access diversity for cassava and maize improvement.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2.5 Importance of Centres of Origin in Plant Breeding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is NOT a Vavilov primary centre of origin for any major food crop �?" a fact with profound strategic implications.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Every major productivity gain in Nigeria's staple crop sector ultimately depends on accessing genetic resources from centres of origin outside Africa (South America, Mexico, Asia).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makes Nigeria's participation in international germplasm exchange networks �?" and the strength of institutions like NACGRAB and IITA �?" a matter of national food security.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Section C: CROP DOMESTICATION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History, Domestication Syndrome, Wild vs Domesticated Traits, Nigerian Examples �?" 35 Minutes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3.1 Definition of Crop Domestication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Crop Domestication: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process by which wild plant species are brought under human cultivation and genetically modified through selective breeding over generations to become adapted to agricultural conditions and human needs.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Domestication has four defining characteristics: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Human-directed selection �?" conscious and unconscious choices by farmers over generations drive heritable genetic change.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Genetic modification �?" DNA changes accumulate through directional selection favouring human-valued traits, not random mutation.</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3.1 Definition of Crop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Agricultural adaptation �?" crops become suited to cultivation conditions: field spacing, harvest schedules, storage requirements, and processing methods.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Human dependence �?" most domesticated crops lose the ability to reproduce without human intervention (e.g., seed dispersal, planting, vegetative propagation).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Duration: Domestication typically requires 1,000�?"3,000 years of continuous selection, though some crop-human systems achieved domestication more rapidly.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3.2 Historical Background �?" When and Where Was Domestication?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All major domestications occurred within a roughly 5,000-year window (11,000�?"6,000 years Before Present), coinciding with the end of the last Ice Age, the emergence of more stable climates, and the growth of settled human communities.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Domestication occurred independently on at least five continents.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Period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Region and Key Crops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~11,000 BP</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3.2 Historical Background �?" When and Where Was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Fertile Crescent (Near East) �?" Wheat, Barley, Lentil, Pea. First agricultural revolution.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~10,000 BP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China and Southeast Asia �?" Rice (Oryza sativa), Foxtail millet, Soybean. Independent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~9,000 BP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Mesoamerica (Mexico) �?" Maize from teosinte, Beans, Squash, the 'Three Sisters'.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3.2 Historical Background �?" When and Where Was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~8,000 BP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South America (Andes + Lowlands) �?" Potato (Andes), Cassava (Brazil), Groundnut (Bolivia).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~6,000 BP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Sub-Saharan Africa �?" Sorghum (NE Africa/Ethiopia), Pearl millet (Sahel), African rice (Niger Delta).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~5,000 BP</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3.2 Historical Background �?" When and Where Was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Global �?" Continued diversification; secondary centres forming across all continents.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 EXAM TIP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Sub-Saharan Africa's independent domestications �?" sorghum, pearl millet, and African rice �?" are frequently neglected in answers.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These pre-adapted African crops are crucial for Nigeria's food security in the face of climate change.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Always include them in discussions of domestication centres.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3.3 Stages of Crop Domestication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Domestication is not a single event but a continuum of five overlapping stages: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Stage 1 �?" Gathering and Pre-adaptation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Humans gather and consume wild plants opportunistically.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No deliberate cultivation occurs.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Over time, human gatherers began to recognise which plants yielded more, tasted better, or grew predictably near campsites.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3.3 Stages of Crop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Initial concentration of useful plants around human settlements began accidentally.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Stage 2 �?" Incipient Cultivation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Seeds of preferred plants are intentionally sown near settlements.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Plants still closely resemble their wild ancestors genetically.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Early unconscious selection begins as the most productive or palatable plants are preferentially harvested and re-sown.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3.3 Stages of Crop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Stage 3 �?" Unconscious Selection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Farmers save seeds from the best-performing plants without intending to create genetic change.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Over many generations, crop populations gradually diverge from wild ancestors.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domestication syndrome (see Section 3.4) begins to appear.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stage explains how ancient farmers achieved profound genetic transformation without any knowledge of genetics.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3.3 Stages of Crop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Stage 4 �?" Conscious Selection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Farmers deliberately choose specific parents for desirable traits and, in some cases, deliberately cross-pollinate plants.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marks the transition to formal plant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Farmers separate elite plants, prevent unwanted pollination, and select from progeny.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essentially empirical plant breeding.</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3.3 Stages of Crop Domestication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Stage 5 �?" Scientific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Application of genetics (Mendelian principles, quantitative genetics), statistics, and molecular tools to direct selection with precision.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Modern plant breeding, from around 1900 onward, represents the continuation of domestication at an accelerated rate.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Marker-assisted selection, genomic selection, and genetic modification are Stage 5 tools.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Vavilov expressed this beautifully: "Plant breeding is evolution directed by man."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Domestication consistently produces a remarkably similar suite of genetic and morphological changes across all crops �?" regardless of the crop species, the continent of origin, or the cultural context.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convergent set of changes is called the domestication syndrome.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Its universality is explained by the fact that human needs are the same everywhere: predictable harvests, large nutritious seeds, safe food, and manageable plants.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Syndrome Trait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Ancestor State</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Domesticated State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Why It Changed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Non-shattering seeds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Seeds shatter and disperse at maturity �?" optimal for wild propagation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Seeds remain firmly attached at maturity �?" optimal for human harvest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Farmers can only harvest plants that still had seeds when they arrived; shattering types yielded nothing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Larger seeds and fruits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Small, hard, numerous seeds �?" maximise dispersal probability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Large, few, heavy seeds and fruits �?" maximise nutritive value per seed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Farmers saved the biggest seeds for replanting, generation after generation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Loss of dormancy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Staggered germination over months or years �?" survival insurance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Rapid, uniform germination �?" crop emergence is predictable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Farmers needed synchronised crop stands for planting and harvest planning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Reduced toxins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Bitter or toxic compounds protect seeds against herbivores and pathogens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Reduced or absent bitter/toxic compounds in edible parts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Selection for palatability removed chemical defences gradually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Compact architecture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Tall, multi-branched, sprawling plants �?" maximise light capture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Erect, compact, uniform plants �?" suit dense sowing and machine harvest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Dense field planting and convenience of harvest selected for compactness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Loss of dispersal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Active seed dispersal by wind, animals, or explosive pods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Seeds entirely dependent on humans for dispersal and planting</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Non-dispersing plants were the only ones that stayed in the farmer's field to be re-sown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These traits are so universal and recognisable that archaeologists use them to identify domesticated crops in ancient plant remains �?" even without DNA analysis.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 charred grain that does not shatter can be identified as domesticated even if thousands of years old.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 EXAM TIP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Know all six domestication syndrome traits and be able to explain each mechanistically.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3.4 The Domestication Syndrome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The non-shattering trait is the most commonly tested, followed by loss of dormancy and reduced toxins.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Characteristic</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Plants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Domesticated Plants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Seed retention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Shattering / active dispersal</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Non-shattering; retained on plant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Seed size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Small, hard, numerous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Large, soft, fewer per plant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Germination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Delayed; staggered (strong dormancy)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Rapid; uniform (low dormancy)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Toxins / bitterness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High toxic or bitter compounds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Reduced or eliminated toxins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Plant height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Tall, branching, sprawling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Compact, erect, uniform</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Maturity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Uneven / extended maturation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Uniform, synchronous maturity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Photoperiod response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Strict photoperiod sensitivity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Wider photoperiod adaptation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Pest/disease resistance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Generally higher (naturally evolved)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Often lower (traded for yield)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Yield potential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Low (survival traits dominate)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High (productivity traits dominate)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Human dependence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None �?" survives independently in wild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High �?" requires human cultivation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reduced pest and disease resistance of domesticated crops versus their wild ancestors is a critical point for Nigerian breeding.</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3.5 Wild vs Domesticated Plants �?" Detailed Comparison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When cassava mosaic disease and cassava brown streak disease threaten Nigeria's cassava production, breeders must return to wild Manihot species in South America to find resistance genes.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Similarly, when maize streak virus devastates maize, the diversity of wild and landrace maize populations in Mexico and Central America provides the resistance breeding requires.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the practical link between Section B (centres of origin) and Section C (domestication).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3.6 Unconscious vs Conscious Selection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Unconscious Selection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process by which early farmers unknowingly drove genetic change in crop populations through their everyday harvesting and planting decisions.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No understanding of heredity was required; the selective pressure arose naturally from human behaviour.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Classic mechanism:</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wheat shatters when touched �?" an adaptive trait for seed dispersal.</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3.6 Unconscious vs Conscious Selection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But a farmer harvesting wild wheat at maturity could only collect from plants that had NOT yet shattered.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Over generations, the population shifted toward non-shattering �?" not because the farmer intended this, but because shattering plants left no seeds for the farmer to replant.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Conscious Selection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deliberate choice of specific parents with known desirable traits.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Advanced farmers and early plant breeders separated elite plants, controlled pollination, and evaluated progeny.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3.6 Unconscious vs Conscious Selection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Modern scientific breeding makes this process explicit, statistically rigorous, and genetically informed.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Nigerian example: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IITA breeders crossing elite CIMMYT drought-tolerant maize lines with Nigerian landraces to combine drought tolerance (from CIMMYT germplasm) with local adaptation (from indigenous varieties).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conscious, targeted, and data-driven.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Africa independently domesticated several crops of major significance.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These should be regarded as Africa's agricultural achievement and as uniquely valuable resources for the continent.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Sorghum (Sorghum bicolor)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Domesticated approximately 6,000 BP in northeast Africa (Ethiopia and Sudan region).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relative is Sorghum bicolor subsp. verticilliflorum, still found across sub-Saharan Africa.</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Key domestication changes included larger grain, reduced seed shattering, sweet-stalked varieties selected for brewing, and broad photoperiod adaptation enabling growth across diverse latitudes.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Sorghum is the major staple cereal of northern Nigeria, particularly in Kano, Katsina, Kebbi, and Sokoto states.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It is among the most drought-tolerant of all cereal crops and critical for food security in Nigeria's Sahelian zone where rainfall is erratic and below 700 mm/year.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is one of the world's top five sorghum producers.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Pearl Millet (Pennisetum glaucum)</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Domesticated approximately 4,500 BP in the Sahel region, near the present-day Mali-Niger border.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relative Cenchrus violaceus is still found in West Africa.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Key changes included larger and more numerous seeds, less shattering, shorter maturity period, and improved yield stability.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Pearl millet is the dominant cereal in Nigeria's extreme north �?" grown where no other major cereal can survive.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It tolerates sandy, low-fertility soils and rainfall as low as 250 mm.</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IITA and national programmes have developed improved pearl millet varieties with enhanced grain protein quality to address nutritional challenges in the Sahelian north.</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African Rice (Oryza glaberrima)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Domesticated approximately 3,000 BP in the Niger River Delta and surrounding regions of West Africa.</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Wild relative is Oryza barthii (West African wild rice).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Key changes included larger grain, non-shattering rachis, faster maturity, and adaptation to West African flooded conditions.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an entirely separate domestication from Asian rice (Oryza sativa) and uses a different wild ancestor.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African rice is an indigenous West African crop with strong resistance to African-specific pests and diseases, and notable weed-competitive ability.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Declining in cultivation after Asian rice introduction, it has been revived through the NERICA (New Rice for Africa) breeding programme, which crosses African rice (resistance, adaptation) with Asian rice (yield potential) to produce superior hybrids.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NERICA varieties are now distributed by Nigerian agricultural development programmes across the country.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Yam (Dioscorea spp.)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Multiple independent domestications �?" in West Africa approximately 5,000 BP (Dioscorea rotundata, D. cayenensis) and separately in Southeast Asia and East Africa.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ancestors in West Africa include Dioscorea abyssinica and D. praehensilis.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Key domestication changes included larger, less toxic tubers, reduced bitterness, and modified tuber-to-vine ratio.</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is the world's largest yam producer, accounting for more than 65% of global yam output.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Yam is culturally central in Igbo, Ibibio, Tiv, and many other Nigerian communities and has profound social and ceremonial significance.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Despite this importance, yam remains one of the most under-researched major world crops relative to its significance.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3.7 African Crop Domesticates �?" Nigeria's Indigenous Agricultural Heritage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The National Root Crops Research Institute (NRCRI) at Umudike, Abia State, leads Nigerian yam improvement.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represents a major opportunity for Nigerian plant scientists.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Cassava (Manihot esculenta)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Origin and domestication: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Domesticated by indigenous Amerindians in the Brazil-Paraguay lowlands approximately 8,000 BP from wild Manihot species.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Key domestication changes included selection for large, tuberous, starchy roots; reduction of cyanogenic glycosides (hydrogen cyanide content); shorter maturity; and adaptation to vegetative propagation by stem cuttings.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to Nigeria:</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Brought to the West African coast by Portuguese traders in the 16th century, initially through SA�o TomAc island on the Bight of Benin.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No formal quarantine system existed at the time.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crop spread inland along trade routes over the following centuries.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is the world's largest cassava producer, exceeding 50 million tonnes per year.</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Cassava is the foundation of Nigerian food security �?" processed into garri, fufu, abacha, and numerous other traditional foods.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IITA, headquartered in Ibadan, is the world's leading cassava improvement centre, and Nigerian breeders have developed virus-resistant (TME series), high-yielding, and beta-carotene-enriched (yellow cassava) varieties that have transformed production across sub-Saharan Africa.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Cocoa (Theobroma cacao)</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Origin and domestication: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Domesticated by the Aztec and Mayan civilisations of Mesoamerica approximately 3,000 BP.</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Wild relatives still exist in the Amazon basin.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Key domestication changes included larger pods, more cocoa beans per pod, reduced bitterness, and manageable tree height.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to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Introduced from the island of SA�o TomAc in 1874, initially to the Yoruba southwest.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By the 1880s, cocoa cultivation had spread rapidly through Yorubaland, creating a transformative economic shift.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is the world's fourth-largest cocoa producer.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Cocoa is Nigeria's most important agricultural export crop and the backbone of the economies of Ondo, Cross River, Ekiti, and Osun states.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Cocoa Research Institute of Nigeria (CRIN) at Ibadan leads improvement of this introduced crop.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Nigerian cocoa industry generates billions of naira annually in foreign exchange.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Oil Palm (Elaeis guineensis)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Unlike cassava and cocoa, oil palm is native to the West African rainforest belt �?" including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oil palms are indigenous to Nigeria's forest zone.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dura type (thick shell, moderate oil content) was the traditional form cultivated by West African communities for centuries.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Improved variety introduction: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In the 1970s and 1980s, improved Dura A- Pisifera (tenera) hybrid varieties were introduced to Nigeria from Malaysia.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These produce thin or shell-less fruits with 5�?"10 times higher oil yield than traditional types, and more uniform ripening.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Oil palm is Nigeria's most important food oil crop.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was once the world's largest palm oil producer.</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3.8 Case Studies �?" Key Introduced Crops in Nigeria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Decline to third place (behind Indonesia and Malaysia) resulted from decades of neglect and competition from Malaysian plantations �?" themselves established using oil palm genetic material originally exported from West Africa.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Reversing this decline through improved planting material distribution is a major national agricultural priority.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Nigerian Institute for Oil Palm Research (NIFOR) at Benin City leads this effort.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Section D: PLANT INTRODUCTION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Definition, Types, Objectives, Procedure, Acclimatization, Quarantine, Advantages and Risks �?" 30 Minutes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may be:</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International introduction �?" movement between countries.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Governed by international treaties (ITPGRFA, Nagoya Protocol).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Requires phytosanitary certificates, quarantine inspection, and national regulatory approval.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Internal introduction �?" movement between regions or states within a country.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Less regulated but still requires adaptation testing across agro-ecological zones.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may be: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Common in Nigeria �?" for example, moving cassava varieties between the forest zone (south) and the forest-savanna transition (middle belt).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from wild habitats �?" bringing wild species or ecotypes into cultivation for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Technically marks the beginning of a new domestication cycle.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Example: collecting wild Manihot species from South America for cassava resistance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IMPORTANT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4.2 Objectives of Plant Introduction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of Entirely New Crops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Introduce food, feed, fibre, or industrial crops not previously grown in the region, thereby expanding agricultural and economic options.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All of Nigeria's major introduced crops �?" cassava, maize, cocoa, groundnut, rubber �?" began as introductions.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cashew (Anacardium occidentale, from Brazil) is a more recent introduction that now generates significant export income, particularly in Kogi, Enugu, and Kwara states.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4.2 Objectives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Access to Improved Varieties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Access superior varieties developed through international research to immediately boost productivity without the time and cost of developing varieties from scratch.</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FARO (Federal Agricultural Research Organisation) rice varieties �?" many derived from IRRI germplasm �?" have been adopted in Nigeria's lowland and upland rice ecosystems.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IITA maize varieties incorporating CIMMYT drought-tolerance genes have transformed maize production in northern Nigeria under the Drought-Tolerant Maize for Africa (DTMA) programme.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4.2 Objectives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Germplasm for Breeding Programmes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Collect and import diverse genetic material for use as parents in crossing programmes.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the most technically important objective from a breeding perspective.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Disease resistance, drought tolerance, nutritional enhancement, and yield potential genes from diverse global gene pools greatly expand what Nigerian breeders can achieve.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Germplasm Conservation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4.2 Objectives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Build and maintain national collections of crop diversity for long-term preservation.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NACGRAB (National Centre for Genetic Resources and Biotechnology), located in Ibadan, maintains Nigeria's national gene bank with accessions of both local and introduced materials.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Forestry and Agroforestry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of valuable timber, shade, and multipurpose trees to expand forest resources and improve land management.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4.2 Objectives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Teak (Tectona grandis, from Southeast Asia) has been widely planted in Nigerian forest reserves and is now a major timber crop.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Eucalyptus and Leucaena leucocephala (from Central America) have been introduced for fuelwood and soil improvement in agroforestry systems across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Research and Education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of species for comparative performance studies, crop evolution research, pathology screening, and academic purposes.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Universities and research institutes maintain introduction nurseries for these purposes.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4.3 Types of Plant Introduction �?" Primary and Secondary</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Primary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Definition: The introduced variety or material is directly released for commercial cultivation or farmer use without significant genetic modification in the new environment.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Characteristics: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material performs well immediately upon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It is released directly to farmers as a new variety.</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4.3 Types of Plant Introduction �?" Primary and Secondary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No crossing or selection in the new environment is required.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the fastest route from acquisition to farmer impact.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When applicable: When the environment of origin closely resembles the introduction site, or when the variety has very broad adaptation across diverse environments.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Nigerian example: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Some improved rice varieties from IRRI have been directly adopted as FARO varieties in Nigeria's lowland rice ecosystems after adaptation trials confirmed their suitability.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4.3 Types of Plant Introduction �?" Primary and Secondary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Secondary Introduction (Most Common Type)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Definition: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introduced material is not released directly to farmers but is used as breeding material �?" as a crossing parent �?" to transfer specific desirable genes into locally adapted backgrounds.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Characteristics: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Introduced material is evaluated and selected as a donor parent.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4.3 Types of Plant Introduction �?" Primary and Secondary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Crosses are made between the introduced material and locally adapted varieties or elite breeding lines.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Progeny are selected for the desired traits combined with local adaptation.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a longer process �?" typically 8�?"12 years �?" but produces varieties better suited to local conditions.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Prevalence: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Secondary introduction accounts for approximately 80% of all formal plant introduction activities worldwide, because direct adaptation (primary introduction) is relatively rare.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4.3 Types of Plant Introduction �?" Primary and Secondary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dY�3dYت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Drought-Tolerant Maize for Africa (DTMA) programme is Nigeria's most successful recent example of secondary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CIMMYT drought-tolerant maize lines from Mexico were crossed with Nigerian and West African landraces at IITA Ibadan.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progeny went through years of selection trials in Nigeria's key maize-producing zones.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resulting varieties (e.g., TZEEI series) are now grown across northern and middle-belt Nigeria and have measurably improved food security for smallholder farmers.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4.3 Types of Plant Introduction �?" Primary and Secondary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precisely how secondary introduction works in practice.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 EXAM TIP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 not confuse 'secondary introduction' with 'a second attempt at introduction' or 'introduction to a secondary centre.' Secondary introduction specifically means the introduced material is used as a BREEDING PARENT, not directly released.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distinction is a common examination error.</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4.4 Plant Introduction Procedure �?" Step by Step</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Germplasm Acquisition �?" Request material through official channels: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CGIAR centres (IITA, CIMMYT, IRRI), FAO, NACGRAB, bilateral country agreements, or the Svalbard Seed Vault.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Obtain phytosanitary documentation and permits from the source country.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All material must be accompanied by documentation of origin and any intellectual property restrictions.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Packaging and Dispatch �?" Seeds must be properly packaged in moisture-proof, properly labelled bags with unique accession numbers.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4.4 Plant Introduction Procedure �?" Step by Step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Cuttings and vegetative material are placed in appropriate growth media.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Material is treated with approved fungicide and/or insecticide before shipping.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All phytosanitary documentation must accompany the consignment.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Entry and Quarantine Inspection �?" All plant material is intercepted at the port of entry by NAQS (National Agricultural Quarantine Service,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Material is inspected for visible pests, diseases, and contamination.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4.4 Plant Introduction Procedure �?" Step by Step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Quarantined in approved screen houses for one to two growing seasons under close phytosanitary monitoring.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Released only after receiving a clean bill of phytosanitary health.</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Cataloguing and Documentation �?" Quarantine-cleared material is assigned permanent, unique accession numbers in Nigeria's national genetic resources database.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Morphological descriptors are recorded.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Seed sub-samples are stored under appropriate conditions in the NACGRAB gene bank for long-term preservation.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4.4 Plant Introduction Procedure �?" Step by Step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Evaluation Trials �?" Material is planted in multi-location performance trials across Nigeria's major agro-ecological zones (forest, forest-savanna transition, Guinea savanna, Sudan savanna, Sahel).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Yield, disease and pest reactions, adaptation, and quality traits are measured.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Statistical analysis (analysis of variance, stability analysis) is conducted to identify best performers.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Multiplication and Distribution �?" Superior introductions are multiplied in sufficient quantity for wider testing or distribution.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If primary introduction: material is released as a new recommended variety after passing national performance and release criteria.</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4.4 Plant Introduction Procedure �?" Step by Step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If secondary introduction: material enters the crossing programme.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Germplasm is distributed to other breeders and research institutes as appropriate.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Typical timeline: 3�?"5 years from acquisition to release for a successful primary introduction; 8�?"12 years for secondary introduction through a full breeding cycle.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4.5 Acclimatization and Adaptation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Acclimatization: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ability of an introduced crop to physiologically and genetically adjust to the climate, soils, photoperiod, pest and disease complex, and other environmental conditions of a new region, such that it can complete its life cycle, produce, and reproduce.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Four factors govern how quickly and successfully acclimatization occurs: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Breeding System</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Self-pollinated crops (wheat, groundnut, soybean, cowpea) accumulate homozygosity naturally, allowing adapted lines to be fixed rapidly through selfing and selection.</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4.5 Acclimatization and Adaptation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Cross-pollinated crops (maize, cassava, yam) require larger populations and longer selection programmes to achieve consistent adaptation.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Level of Genetic Variation in the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More genetic variation in the introduced population means a higher probability that adapted genotypes are already present.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Always introduce diverse populations or multiple accessions �?" not single genotypes �?" to maximise the probability of finding adaptive alleles.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Crop Duration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4.5 Acclimatization and Adaptation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Short-duration annual crops (one season = one selection cycle) can acclimatize within a few years of continuous selection.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Perennial crops (cocoa, oil palm, rubber) require decades to complete even a single formal selection cycle, making acclimatization a long-term commitment.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Environmental Match</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closer the match between the source environment and the Nigerian introduction environment, the faster acclimatization proceeds.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Nigeria's tropical climate (particularly the forest and southern savanna zones) is broadly compatible with other tropical crop origins, facilitating acclimatization of most major crop species.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4.5 Acclimatization and Adaptation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The Place Effect: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Even without deliberate breeder selection, natural selection pressure in the new environment will progressively favour better-adapted genotypes within an introduced diverse population.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Growing introduced populations for multiple seasons before imposing artificial selection allows natural adaptation to begin, improving the likelihood of identifying truly adapted breeding materials.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4.6 Plant Quarantine �?" Nigeria's Agricultural Biosecurity Shield</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Plant Quarantine: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Mandatory regulatory isolation and inspection of introduced plant material to prevent the entry, establishment, and spread of exotic pests, pathogens, and invasive weed species into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Nigeria's Quarantine Authority �?" NAQS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National Agricultural Quarantine Service (NAQS), under the Federal Ministry of Agriculture and Food Security, is responsible for all phytosanitary control in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NAQS operates at all international ports of entry �?" Lagos, Abuja, Port Harcourt, and Kano airports, plus sea ports.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4.6 Plant Quarantine �?" Nigeria's Agricultural Biosecurity Shield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NAQS enforces the International Standards for Phytosanitary Measures (ISPM) and Nigeria's Quarantine Act.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Quarantine Procedure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Pre-entry: Importer obtains phytosanitary certificate from the source country's quarantine authority confirming the material is pest-free.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Border inspection: NAQS officers inspect the consignment at the port of entry for visible contamination, pests, or disease symptoms.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Quarantine screen house: Material is grown in secure, insect-proof, controlled-environment screen houses for one to two full growing seasons.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4.6 Plant Quarantine �?" Nigeria's Agricultural Biosecurity Shield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Monitoring: Plants are regularly inspected by pathologists and entomologists for any emerging pests or diseases, including those with long latency periods.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Treatment or destruction: If a quarantine pest or disease is found, material is treated (fumigation, hot water) or destroyed entirely, depending on severity.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Release certificate: Only after complete clearance is a phytosanitary release certificate issued, permitting the material to enter regular research or breeding programmes.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Consequences of Quarantine Failure �?" Nigerian Examples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CASE 1</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4.6 Plant Quarantine �?" Nigeria's Agricultural Biosecurity Shield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Chromolaena odorata (Siam Weed):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Accidentally introduced to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Now one of the most damaging invasive weeds in Nigeria's farming systems, invading abandoned farmland, reducing crop yields, and costing millions of naira annually in control.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Illustrates the irreversible nature of some introduction accidents.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CASE 2</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4.6 Plant Quarantine �?" Nigeria's Agricultural Biosecurity Shield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Cassava Mealybug (Phenacoccus manihoti):</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Accidentally introduced from South America to Africa in the 1970s.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Caused estimated US$2 billion in losses before biological control was established using the parasitoid wasp Epidinocarsis lopezi �?" found by returning to the mealybug's South American origin (demonstrating the practical value of understanding centres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was among the worst-affected countries.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CASE 3</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4.6 Plant Quarantine �?" Nigeria's Agricultural Biosecurity Shield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Tomato Leaf Miner (Tuta absoluta):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Spread to Nigeria via infested tomato seedlings around 2015.</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Has devastated tomato production across Nigeria �?" a crop with enormous importance for household nutrition and small-scale farmer income.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Losses in some production areas have exceeded 80% of the crop.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dY"? EXAM TIP</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4.6 Plant Quarantine �?" Nigeria's Agricultural Biosecurity Shield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Quarantine case studies are high-yield examination material.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Know at least two Nigerian examples of quarantine failure and their consequences.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Understand why quarantine cannot be bypassed even for 'obviously clean' material �?" pathogens can be latent.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4.7 Advantages of Plant Introduction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Rapid Agricultural Improvement</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fastest method available to enhance crop productivity. It can save 5�?"10 years compared to developing a new variety entirely from local material. Nigeria can immediately access decades of international research investment from CGIAR centres and other global institutions.</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Access to Entirely New Crops and Industries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expands agricultural diversity and creates new economic sectors.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Nigeria's entire cocoa export industry, rubber industry, and groundnut industry all began as plant introductions.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Without introduction, Nigeria's agricultural economy would be unrecognisably smaller.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Broadened Genetic Base for Breeding</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fastest method available to enhance crop productivity. It can save 5�?"10 years compared to developing a new variety entirely from local material. Nigeria can immediately access decades of international research investment from CGIAR centres and other global institutions.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Provides genetic diversity beyond what is locally available.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Enables access to genes for disease resistance, drought tolerance, nutritional quality, and yield potential from diverse global gene pools that are essential for long-term sustained productivity improvement.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Cost-Effectiveness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Accessing international germplasm collections is far cheaper than developing equivalent trait combinations from scratch through local selection alone.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Global CGIAR research investments are estimated at billions of dollars annually �?" introduction allows Nigerian breeders to leverage these investments for national benefit.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fastest method available to enhance crop productivity. It can save 5�?"10 years compared to developing a new variety entirely from local material. Nigeria can immediately access decades of international research investment from CGIAR centres and other global institutions.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Technology Transfer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brings not only plant material but associated knowledge �?" cultivation practices, integrated pest management protocols, processing technologies, and market development strategies developed alongside the introduced varieties.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Escape from Local Pathogen Biotypes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Introduced varieties may initially lack recognition molecules that local pathogen biotypes have evolved to exploit in local varieties.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'new encounter' situation can provide temporary field resistance, buying time for more durable resistance to be developed through breeding.</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of Exotic Pests and Diseases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most serious risk.</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New exotic pathogens can devastate local crops that have no natural resistance because they have never co-evolved with the pathogen.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cassava mealybug and Tuta absoluta examples cited above are both consequences of inadequate phytosanitary control.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One error can permanently alter a country's crop disease landscape.</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Invasive Weed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Aggressive plant species introduced accidentally can invade farmlands and natural ecosystems, outcompeting crops and native vegetation.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Chromolaena odorata (Siam weed) and Tithonia diversifolia (Mexican sunflower) are both invasive plants now widespread in Nigerian farming systems.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Poor Adaptation �?" High Failure Rate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Estimated 80�?"90% of primary introduction attempts fail to adapt adequately to the new environment.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Performance in the source environment does not reliably predict performance in Nigeria's complex and variable agro-ecology.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is why extensive multi-location evaluation trials are mandatory.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Genetic Vulnerability through Uniformity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Over-reliance on a narrow genetic base of elite introduced varieties creates vulnerability.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If a new pathogen biotype overcomes the resistance in widely grown varieties, catastrophic crop failure can result across large areas simultaneously.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HISTORY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Irish Potato Famine (1845�?"1852) killed approximately 1 million people and forced 1.5 million to emigrate because Irish farmers grew a single introduced potato variety with no resistance to late blight (Phytophthora infestans).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When blight arrived, there was no genetic backup.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Nigeria's cassava industry carries a similar structural risk from narrow varietal deployment.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Economic Dependence on Foreign Seed Systems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Hybrid seed cannot be saved by farmers for replanting and must be repurchased annually.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If foreign seed companies control the supply chain, disruptions �?" political, logistical, or financial �?" can leave Nigerian farmers without planting material.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Building a strong domestic seed sector alongside international collaboration is essential.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Legal and Ethical Issues �?" Biopiracy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Taking genetic resources from their country of origin without consent or benefit-sharing arrangements violates the Nagoya Protocol and the ITPGRFA.</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must be vigilant both as a country that has been subject to biopiracy (for its diverse yam, African rice, and cowpea genetic resources) and as a country that must comply with international regulations when accessing materials from other nations.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SYNTHESIS: THE COMPLETE JOURNEY OF A CROP</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How Centres of Origin, Domestication, and Introduction Connect �?" Using Cassava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three concepts covered in this lecture are not independent topics �?" they tell one continuous story. The cassava example illustrates the complete journey: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Stage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What Happened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1 �?"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Manihot species in Brazil-Paraguay lowlands: maximum genetic diversity, the source of all future improvement. Where breeders must return for novel genes.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2 �?" DOMESTICATION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Indigenous Amerindians selected over millennia for large roots, low HCN, and vegetative propagation suitability.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Unconscious selection produced the domestication syndrome traits observed in cultivated cassava.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3 �?" INTRODUCTION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Portuguese traders brought cassava to West Africa in the 16th century via SA�o TomAc. No quarantine system; a defining moment in Nigerian food history.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4 �?" ACCLIMATIZATION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Over 3�?"4 centuries, cassava adapted to West African soils, climate, pests, and diseases through farmer selection and natural selection.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West Africa became a secondary centre of cassava diversity.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5 �?" SCIENTIFIC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IITA (Ibadan) developed virus-resistant (CMD, CBSD), high-yielding, beta-carotene-enriched varieties through crosses and selection.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TME variety series transformed African cassava production.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6 �?" FUTURE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Genomic selection, targeted resistance to cassava brown streak, drought tolerance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 must retain access to South American wild Manihot �?" the genetic insurance for future improvement.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Ask yourself: at which stage do plant breeders get involved? The answer is that we are most actively engaged at stages 4�?"6 �?" but every action at those stages depends on stages 1�?"3 having happened.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This perspective places the plant breeder within a long continuum of human interaction with plants, stretching back over 10,000 years.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Summary of Key Points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Section B �?" Centre of Origin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Centres of origin are geographical regions where crops were domesticated and where maximum genetic diversity exists �?" the evolutionary treasuries of plant breeders.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Vavilov identified 8 primary centres (later revised to 11) through systematic diversity mapping, all located in mountainous regions between 20�?"45A� latitude.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Three types: Primary (birthplace), Secondary (diversification site after introduction), Micro (local hotspot).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Ethiopia (Centre 6) is Africa's only primary centre. Centres 7 (Mesoamerica) and 8 (South America) are most relevant to Nigerian agriculture.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Centres of origin are important for germplasm conservation, resistance gene mining, understanding adaptation, broadening genetic bases, and satisfying legal/policy requirements under the Nagoya Protocol.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Section C �?" Crop Domestication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Domestication is the genetic transformation of wild species into cultivated crops through human selection over millennia.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 domestication syndrome �?" non-shattering seeds, larger seeds, reduced dormancy, reduced toxins, compact architecture, loss of dispersal �?" appears universally across all independently domesticated crops.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Domestication occurred independently on at least 5 continents; Africa independently domesticated sorghum, pearl millet, African rice, yam, coffee, and other crops.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4.8 Disadvantages and Risks of Plant Introduction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Unconscious selection drove early domestication; conscious and scientific selection drives modern plant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Both are the same fundamental process operating at different levels of intentionality.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Wild relatives of domesticated crops retain traits lost during domestication �?" particularly resistance genes �?" making them indispensable resources for continued improvement.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Section D �?" Plant Introduction</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Extracted from the supplied lecture notes.</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Primary introduction: material released directly to farmers. Secondary introduction: used as breeding parent (most common, ~80% of cases).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procedure: acquisition �+' packaging �+' quarantine (NAQS, Nigeria) �+' cataloguing �+' evaluation trials �+' multiplication/distribution.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Quarantine is non-negotiable and irreplaceable �?" failure can permanently alter national agriculture (cassava mealybug, Tuta absoluta, Chromolaena odorata).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Advantages: rapid improvement, new crops, genetic broadening, cost-effectiveness, technology transfer.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Risks: exotic pests/diseases, invasive weeds, poor adaptation, genetic vulnerability, economic dependence, biopiracy concerns.</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OVERARCHING MESSAGE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These three concepts are inseparable.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Centres of origin hold the raw genetic material.</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Domestication shaped that material into useful crops over millennia.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distributed those crops across the globe �?" and continues to distribute improved varieties today.</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Every modern crop variety is the product of all three processes working together across time.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Revision Questions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Short Answer Questions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'centre of origin' and explain why these centres are not randomly distributed across the globe.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List Vavilov's eight primary centres and name two important crop species from each.</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Distinguish clearly between primary, secondary, and micro centres of diversity, giving one Nigerian-relevant example for each.</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Define the domestication syndrome and list four traits it includes. Explain why each trait was selected.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Compare wild and domesticated forms of maize (Zea mays) under five characteristics.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Explain the difference between primary and secondary plant introduction. Give one Nigerian example of each.</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Outline the steps in the plant introduction procedure as practised in Nigeria.</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What is NAQS and what role does it play in plant introduction in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Name three exotic pests or weeds that have caused damage to Nigerian agriculture following introduction failures. Describe the impact of one of them.</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State three advantages and three disadvantages of plant introduction for Nigerian agriculture.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Long Answer / Essay Questions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With specific reference to Nigeria, evaluate the role of plant introduction in the development of the nation's agricultural sector.</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96E7A"/>
          </a:solidFill>
          <a:ln w="12700">
            <a:solidFill>
              <a:srgbClr val="296E7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In your answer, discuss both benefits and risks, citing examples of at least four major crops.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Explain the concept of the domestication syndrome.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Using two crops of African origin and two introduced to Nigeria, demonstrate how the domestication syndrome is expressed and what it means for modern plant breeders.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'Nigeria's food security depends on institutions and genetic resources in other continents.' Discuss this statement in the context of centres of origin and plant introduction, and recommend measures Nigeria should take to strengthen its genetic resource sovereignty.</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Individual Assignment</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E6B31"/>
          </a:solidFill>
          <a:ln w="12700">
            <a:solidFill>
              <a:srgbClr val="2E6B31">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ASSIGNMENT TITLE: Case Study of Plant Introduction in Nigeria</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Select ONE economically important crop introduced to Nigeria from another region. Write a well-referenced report (2,000�?"2,500 words) covering: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Origin and Domestication History (25%) �?" Where did the crop originate? Who domesticated it and over what time period? What key changes did domestication produce?</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Introduction to Nigeria �?" When, how, and through what route was the crop introduced? What challenges were encountered?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Economic and Food Security Impact (25%) �?" What is the current importance of this crop to Nigeria? Production statistics, economic value, and nutritional role.</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F6DA3"/>
          </a:solidFill>
          <a:ln w="12700">
            <a:solidFill>
              <a:srgbClr val="2F6DA3">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Current Breeding Programmes and Future Prospects (25%) �?" What improvements are being made? Which institutions are leading? What challenges remain?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Suggested Crops: Cocoa A� Improved Rice (FARO varieties) A� Soybean A� Cashew A� Rubber A� Groundnut</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Format: Typed, 1.5 line spacing, 12pt Times New Roman, APA 7th edition referencing.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Due Date: To be announced by the lecturer.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Key References</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8A5F14"/>
          </a:solidFill>
          <a:ln w="12700">
            <a:solidFill>
              <a:srgbClr val="8A5F14">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Vavilov, N.I. (1926). Studies on the Origin of Cultivated Plants. Bulletin of Applied Botany, 16(2), 139�?"248.</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Harlan, J.R. (1992). Crops and Man (2nd ed.). American Society of Agronomy / Crop Science Society of America, Madison, Wisconsin.</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Smartt, J. &amp; Simmonds, N.W. (Eds.) (1995). Evolution of Crop Plants (2nd ed.). Longman Scientific and Technical, Harlow, UK.</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Diamond, J. (1997). Guns, Germs and Steel: The Fates of Human Societies. W.W. Norton &amp; Company, New York.</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Gepts, P. (2002). A comparison between crop domestication, classical plant breeding, and genetic engineering. Crop Science, 42, 1780�?"1790.</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7B4E9E"/>
          </a:solidFill>
          <a:ln w="12700">
            <a:solidFill>
              <a:srgbClr val="7B4E9E">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Acquaah, G. (2012). Principles of Plant Genetics and Breeding (2nd ed.). Wiley-Blackwell, Oxford.</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Doebley, J.F., Gaut, B.S., &amp; Smith, B.D. (2006). The molecular genetics of crop domestication. Cell, 127(7), 1309�?"1321.</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NACGRAB (National Centre for Genetic Resources and Biotechnology): www.nacgrab.gov.ng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IITA (International Institute of Tropical Agriculture): www.iita.org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Bioversity International: www.bioversityinternational.org</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B04D2C"/>
          </a:solidFill>
          <a:ln w="12700">
            <a:solidFill>
              <a:srgbClr val="B04D2C">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Plant introduction is the deliberate, regulated movement of plant genetic material between geographical areas for evaluation and use. (continued)</a:t>
            </a:r>
            <a:endParaRPr lang="en-US" dirty="0"/>
          </a:p>
        </p:txBody>
      </p:sp>
      <p:sp>
        <p:nvSpPr>
          <p:cNvPr id="4" name="Text 2"/>
          <p:cNvSpPr/>
          <p:nvPr/>
        </p:nvSpPr>
        <p:spPr>
          <a:xfrm>
            <a:off x="731520" y="9144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FAO (Food and Agriculture Organization of the UN): www.fao.org/plant-genetic-resources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&lt;/w:pBdr&gt;&lt;w:spacing w:before="120"/&gt;&lt;w:jc w:val="center"/&gt;&lt;/w:pPr&gt;&lt;w:r&gt;&lt;w:rPr&gt;&lt;w:rFonts w:ascii="Calibri" w:cs="Calibri" w:eastAsia="Calibri" w:hAnsi="Calibri"/&gt;&lt;w:i/&gt;&lt;w:iCs/&gt;&lt;w:color w:val="555555"/&gt;&lt;w:sz w:val="18"/&gt;&lt;w:szCs w:val="18"/&gt;&lt;/w:rPr&gt;&lt;w:t xml:space="preserve"&gt;End of Lecture Notes �?" CSP 502 | Dr.</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Fayeun Lawrence Stephen | FUTA | 2024/2025</a:t>
            </a:r>
            <a:endParaRPr lang="en-US" dirty="0"/>
          </a:p>
        </p:txBody>
      </p:sp>
      <p:sp>
        <p:nvSpPr>
          <p:cNvPr id="5" name="Text 3"/>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8FAF4"/>
        </a:solidFill>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235B2A"/>
          </a:solidFill>
          <a:ln w="12700">
            <a:solidFill>
              <a:srgbClr val="235B2A">
                <a:alpha val="0"/>
              </a:srgbClr>
            </a:solidFill>
            <a:prstDash val="solid"/>
          </a:ln>
        </p:spPr>
      </p:sp>
      <p:sp>
        <p:nvSpPr>
          <p:cNvPr id="3" name="Text 1"/>
          <p:cNvSpPr/>
          <p:nvPr/>
        </p:nvSpPr>
        <p:spPr>
          <a:xfrm>
            <a:off x="548640" y="164592"/>
            <a:ext cx="11064240" cy="310896"/>
          </a:xfrm>
          <a:prstGeom prst="rect">
            <a:avLst/>
          </a:prstGeom>
          <a:noFill/>
          <a:ln/>
        </p:spPr>
        <p:txBody>
          <a:bodyPr wrap="square" rtlCol="0" anchor="ctr"/>
          <a:lstStyle/>
          <a:p>
            <a:pPr indent="0" marL="0">
              <a:buNone/>
            </a:pPr>
            <a:r>
              <a:rPr lang="en-US" b="1" dirty="0">
                <a:solidFill>
                  <a:srgbClr val="FFFFFF"/>
                </a:solidFill>
                <a:latin typeface="Aptos Display" pitchFamily="34" charset="0"/>
                <a:ea typeface="Aptos Display" pitchFamily="34" charset="-122"/>
                <a:cs typeface="Aptos Display" pitchFamily="34" charset="-120"/>
              </a:rPr>
              <a:t>Revision Takeaways</a:t>
            </a:r>
            <a:endParaRPr lang="en-US" dirty="0"/>
          </a:p>
        </p:txBody>
      </p:sp>
      <p:sp>
        <p:nvSpPr>
          <p:cNvPr id="4" name="Text 2"/>
          <p:cNvSpPr/>
          <p:nvPr/>
        </p:nvSpPr>
        <p:spPr>
          <a:xfrm>
            <a:off x="640080" y="749808"/>
            <a:ext cx="10972800" cy="320040"/>
          </a:xfrm>
          <a:prstGeom prst="rect">
            <a:avLst/>
          </a:prstGeom>
          <a:noFill/>
          <a:ln/>
        </p:spPr>
        <p:txBody>
          <a:bodyPr wrap="square" rtlCol="0" anchor="ctr"/>
          <a:lstStyle/>
          <a:p>
            <a:pPr indent="0" marL="0">
              <a:buNone/>
            </a:pPr>
            <a:r>
              <a:rPr lang="en-US" i="1" dirty="0">
                <a:solidFill>
                  <a:srgbClr val="56606B"/>
                </a:solidFill>
                <a:latin typeface="Aptos" pitchFamily="34" charset="0"/>
                <a:ea typeface="Aptos" pitchFamily="34" charset="-122"/>
                <a:cs typeface="Aptos" pitchFamily="34" charset="-120"/>
              </a:rPr>
              <a:t>A final review slide for quick exam revision.</a:t>
            </a:r>
            <a:endParaRPr lang="en-US" dirty="0"/>
          </a:p>
        </p:txBody>
      </p:sp>
      <p:sp>
        <p:nvSpPr>
          <p:cNvPr id="5" name="Text 3"/>
          <p:cNvSpPr/>
          <p:nvPr/>
        </p:nvSpPr>
        <p:spPr>
          <a:xfrm>
            <a:off x="731520" y="1143000"/>
            <a:ext cx="10789920" cy="5166360"/>
          </a:xfrm>
          <a:prstGeom prst="rect">
            <a:avLst/>
          </a:prstGeom>
          <a:noFill/>
          <a:ln/>
        </p:spPr>
        <p:txBody>
          <a:bodyPr wrap="square" rtlCol="0" anchor="t">
            <a:normAutofit/>
          </a:bodyPr>
          <a:lstStyle/>
          <a:p>
            <a:pPr marL="228600" indent="-228600">
              <a:buSzPct val="100000"/>
              <a:buChar char="•"/>
            </a:pPr>
            <a:r>
              <a:rPr lang="en-US" dirty="0">
                <a:solidFill>
                  <a:srgbClr val="203020"/>
                </a:solidFill>
                <a:latin typeface="Aptos" pitchFamily="34" charset="0"/>
                <a:ea typeface="Aptos" pitchFamily="34" charset="-122"/>
                <a:cs typeface="Aptos" pitchFamily="34" charset="-120"/>
              </a:rPr>
              <a:t>Know the definition and significance of centres of origin for plant breeding.</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Be able to explain Vavilov's theory and distinguish primary, secondary, and micro centres.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Remember the domestication syndrome as a set of human-selected crop traits.</a:t>
            </a:r>
            <a:endParaRPr lang="en-US" dirty="0"/>
          </a:p>
          <a:p>
            <a:pPr marL="228600" indent="-228600">
              <a:buSzPct val="100000"/>
              <a:buChar char="•"/>
            </a:pPr>
            <a:r>
              <a:rPr lang="en-US" dirty="0">
                <a:solidFill>
                  <a:srgbClr val="203020"/>
                </a:solidFill>
                <a:latin typeface="Aptos" pitchFamily="34" charset="0"/>
                <a:ea typeface="Aptos" pitchFamily="34" charset="-122"/>
                <a:cs typeface="Aptos" pitchFamily="34" charset="-120"/>
              </a:rPr>
              <a:t>Understand the steps, objectives, and quarantine importance of plant introduction.</a:t>
            </a:r>
            <a:endParaRPr lang="en-US" dirty="0"/>
          </a:p>
        </p:txBody>
      </p:sp>
      <p:sp>
        <p:nvSpPr>
          <p:cNvPr id="6" name="Text 4"/>
          <p:cNvSpPr/>
          <p:nvPr/>
        </p:nvSpPr>
        <p:spPr>
          <a:xfrm>
            <a:off x="640080" y="6327648"/>
            <a:ext cx="7498080" cy="201168"/>
          </a:xfrm>
          <a:prstGeom prst="rect">
            <a:avLst/>
          </a:prstGeom>
          <a:noFill/>
          <a:ln/>
        </p:spPr>
        <p:txBody>
          <a:bodyPr wrap="square" rtlCol="0" anchor="ctr"/>
          <a:lstStyle/>
          <a:p>
            <a:pPr indent="0" marL="0">
              <a:buNone/>
            </a:pPr>
            <a:r>
              <a:rPr lang="en-US" dirty="0">
                <a:solidFill>
                  <a:srgbClr val="6B7B69"/>
                </a:solidFill>
                <a:latin typeface="Aptos" pitchFamily="34" charset="0"/>
                <a:ea typeface="Aptos" pitchFamily="34" charset="-122"/>
                <a:cs typeface="Aptos" pitchFamily="34" charset="-120"/>
              </a:rPr>
              <a:t>CSP 502 · Centre of Origin, Domestication &amp; Plant Introduction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140</Slides>
  <Notes>140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140</vt:i4>
      </vt:variant>
    </vt:vector>
  </HeadingPairs>
  <TitlesOfParts>
    <vt:vector size="1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vector>
  </TitlesOfParts>
  <Company>FIA Institute Portal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of Origin of Crops, Domestication &amp; Plant Introduction</dc:title>
  <dc:subject>Centre of Origin of Crops, Domestication &amp; Plant Introduction</dc:subject>
  <dc:creator/>
  <cp:lastModifiedBy/>
  <cp:revision>1</cp:revision>
  <dcterms:created xsi:type="dcterms:W3CDTF">2026-05-18T09:40:40Z</dcterms:created>
  <dcterms:modified xsi:type="dcterms:W3CDTF">2026-05-18T09:40:40Z</dcterms:modified>
</cp:coreProperties>
</file>